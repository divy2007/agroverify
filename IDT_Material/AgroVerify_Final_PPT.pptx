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63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rRxIPe2vL6jumpTm5Ei4+XDzI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2F2E2E-27D3-4094-A73F-1A184AB45E4C}">
  <a:tblStyle styleId="{402F2E2E-27D3-4094-A73F-1A184AB45E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7235E3-82E6-49AD-AA25-156B5855D5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921D9-48EF-4DF7-BAD5-8477435FD0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F699F-A573-4D1C-9B5B-300D3C0FA4B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EF2898-B570-4B65-B2A5-36B30DFAE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D49EEE5-2943-43E8-9FBA-001C46C62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8C491-6449-4622-AEE8-24D4090294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44646-7C66-4453-9272-C6D89E4AF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569F8-1824-4AED-8D29-75C40B0FC7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6740005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91" name="Google Shape;91;g3f66740005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3367BD1D-1F7F-F5CB-A023-A52A30059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E1CF344C-8A64-18F0-078F-4B945DE8CB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>
            <a:extLst>
              <a:ext uri="{FF2B5EF4-FFF2-40B4-BE49-F238E27FC236}">
                <a16:creationId xmlns:a16="http://schemas.microsoft.com/office/drawing/2014/main" id="{1908C749-C99A-9210-B980-8B19D4B12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389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035BA0B6-6E44-2490-0290-3C6139B6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986072E3-3537-2688-A72B-949B50F72A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>
            <a:extLst>
              <a:ext uri="{FF2B5EF4-FFF2-40B4-BE49-F238E27FC236}">
                <a16:creationId xmlns:a16="http://schemas.microsoft.com/office/drawing/2014/main" id="{21BD8FC0-9665-211B-BC44-938CEA22C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1376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F084B7B8-F4BF-17CC-6346-F737B719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>
            <a:extLst>
              <a:ext uri="{FF2B5EF4-FFF2-40B4-BE49-F238E27FC236}">
                <a16:creationId xmlns:a16="http://schemas.microsoft.com/office/drawing/2014/main" id="{39305C97-86C1-ED89-21A6-3760E172A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>
            <a:extLst>
              <a:ext uri="{FF2B5EF4-FFF2-40B4-BE49-F238E27FC236}">
                <a16:creationId xmlns:a16="http://schemas.microsoft.com/office/drawing/2014/main" id="{96303B9A-3880-AD4E-226F-9AE245803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4021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13" title="SOU_LOGO_new-removebg (1) (9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f667400058_0_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667400058_0_3"/>
          <p:cNvSpPr/>
          <p:nvPr/>
        </p:nvSpPr>
        <p:spPr>
          <a:xfrm>
            <a:off x="0" y="3355648"/>
            <a:ext cx="12204300" cy="3502351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f667400058_0_3"/>
          <p:cNvSpPr txBox="1"/>
          <p:nvPr/>
        </p:nvSpPr>
        <p:spPr>
          <a:xfrm>
            <a:off x="599441" y="598925"/>
            <a:ext cx="1059688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Times New Roman"/>
              <a:buNone/>
            </a:pPr>
            <a:r>
              <a:rPr lang="en-IN" sz="5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Innovation and Design Thinking-1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Times New Roman"/>
              <a:buNone/>
            </a:pPr>
            <a:r>
              <a:rPr lang="en-IN" sz="5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Agriculture</a:t>
            </a:r>
            <a:endParaRPr sz="5400" b="1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g3f667400058_0_3" title="SOU_LOGO_new-removebg (1) (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g3f667400058_0_3"/>
          <p:cNvGraphicFramePr/>
          <p:nvPr>
            <p:extLst>
              <p:ext uri="{D42A27DB-BD31-4B8C-83A1-F6EECF244321}">
                <p14:modId xmlns:p14="http://schemas.microsoft.com/office/powerpoint/2010/main" val="1079861158"/>
              </p:ext>
            </p:extLst>
          </p:nvPr>
        </p:nvGraphicFramePr>
        <p:xfrm>
          <a:off x="820508" y="3783558"/>
          <a:ext cx="10154746" cy="2301150"/>
        </p:xfrm>
        <a:graphic>
          <a:graphicData uri="http://schemas.openxmlformats.org/drawingml/2006/table">
            <a:tbl>
              <a:tblPr>
                <a:noFill/>
                <a:tableStyleId>{402F2E2E-27D3-4094-A73F-1A184AB45E4C}</a:tableStyleId>
              </a:tblPr>
              <a:tblGrid>
                <a:gridCol w="1015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IN" sz="2300" b="1" dirty="0" err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eam</a:t>
                      </a:r>
                      <a:r>
                        <a:rPr lang="en-IN" sz="2300" b="1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Name: Agri_Developers</a:t>
                      </a:r>
                      <a:endParaRPr sz="2300" b="1" dirty="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300" b="1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Divy Patel (T2602100330038)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300" b="1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Adit Panchal (T2602100330014)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300" b="1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Aaryan Shah (T2602100330030)</a:t>
                      </a:r>
                      <a:endParaRPr sz="2300" b="1" dirty="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300" b="1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Appurva Kapil</a:t>
                      </a:r>
                      <a:endParaRPr sz="2300" b="1" dirty="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609600" y="14986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Why Choose this Domain?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SDG Goal Mapped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Study of Current System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Problems/Weakness in Current System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Possible Solution (Short  Description)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Proposed Solution of Specific solution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Tools &amp; Technologies used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Impact and Benefits to target audience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Choose this Domain?</a:t>
            </a: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0">
              <a:spcBef>
                <a:spcPts val="300"/>
              </a:spcBef>
              <a:buFont typeface="Times New Roman"/>
              <a:buNone/>
            </a:pPr>
            <a:r>
              <a:rPr lang="en-IN" sz="2000" b="1" dirty="0">
                <a:solidFill>
                  <a:srgbClr val="8B0000"/>
                </a:solidFill>
                <a:latin typeface="Times New Roman"/>
              </a:rPr>
              <a:t>Why Agriculture?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Agriculture employs ~45% of India's workforce yet contributes a disproportionately small share of GDP — a productivity and income gap ripe for design-led intervention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Problems exist at every stage — pre-sowing (seed quality), growing (irrigation), and post-harvest (market access, insurance) — making it rich ground for IDT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Government initiatives like Digital Agriculture Mission and e-NAM show strong policy appetite for tech solutions, meaning viable solutions have a real path to adoption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Even small, targeted interventions can directly raise farmer income, reduce crop losses, and improve food security for millions</a:t>
            </a:r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DG Goal Mapped</a:t>
            </a:r>
            <a:endParaRPr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0">
              <a:spcBef>
                <a:spcPts val="300"/>
              </a:spcBef>
              <a:buFont typeface="Times New Roman"/>
              <a:buNone/>
            </a:pPr>
            <a:r>
              <a:rPr lang="en-IN" sz="2000" b="1" dirty="0">
                <a:solidFill>
                  <a:srgbClr val="8B0000"/>
                </a:solidFill>
                <a:latin typeface="Times New Roman"/>
              </a:rPr>
              <a:t>Primary Goal — SDG 2: Zero Hunger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India wastes 15-20% of farm produce due to broken value chains, fake inputs, and inadequate monitoring — directly causing food insecurity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Problems 1, 9, and 14 all create yield loss, income loss, and production risk for the smallest farmers</a:t>
            </a:r>
          </a:p>
          <a:p>
            <a:pPr marL="342900" indent="0">
              <a:spcBef>
                <a:spcPts val="300"/>
              </a:spcBef>
              <a:buFont typeface="Times New Roman"/>
              <a:buNone/>
            </a:pPr>
            <a:r>
              <a:rPr lang="en-IN" sz="2000" b="1" dirty="0">
                <a:solidFill>
                  <a:srgbClr val="8B0000"/>
                </a:solidFill>
                <a:latin typeface="Times New Roman"/>
              </a:rPr>
              <a:t>Secondary Goals Supported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SDG 1 (No Poverty) — farmer income stability directly determines rural poverty levels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SDG 6 (Clean Water) — groundwater over-extraction (Problem 9) threatens long-term water security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SDG 13 (Climate Action) — weather-index insurance failure (Problem 14) leaves farmers exposed to climate-driven crop loss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SDG 15 (Life on Land) — unmonitored irrigation degrades soil health and depletes aquifers irreversibly</a:t>
            </a:r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91440" y="34217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of Current System/domain</a:t>
            </a:r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0">
              <a:spcBef>
                <a:spcPts val="300"/>
              </a:spcBef>
              <a:buFont typeface="Times New Roman"/>
              <a:buNone/>
            </a:pPr>
            <a:r>
              <a:rPr lang="en-IN" sz="2000" b="1" dirty="0">
                <a:solidFill>
                  <a:srgbClr val="8B0000"/>
                </a:solidFill>
                <a:latin typeface="Times New Roman"/>
              </a:rPr>
              <a:t>How Indian Agriculture Works Today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86% of India's farmers are small and marginal (under 2 hectares) — they rely on local agri-dealers for seeds/inputs with zero verification mechanism at point of purchase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Irrigation decisions are experience-based; groundwater pumping is unregulated at farm level — water table dropping 1-3 ft/year in Punjab, Haryana, and Gujarat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Crop insurance under PMFBY covers millions on paper — but uses weather data from stations 20-30 km away, leading to systematic under-payment and wrongful rejections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Government has built digital systems (SATHI for seeds, PMFBY for insurance) but last-mile farmer access to these systems remains near zero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/>
              </a:rPr>
              <a:t>The gap is not policy — it is the broken link between the scheme and the farmer's hand</a:t>
            </a:r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213360" y="45720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Problems/Weakness in Current System</a:t>
            </a:r>
          </a:p>
        </p:txBody>
      </p:sp>
      <p:sp>
        <p:nvSpPr>
          <p:cNvPr id="140" name="Google Shape;140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99" name="ContentBox"/>
          <p:cNvSpPr>
            <a:spLocks noGrp="1"/>
          </p:cNvSpPr>
          <p:nvPr/>
        </p:nvSpPr>
        <p:spPr>
          <a:xfrm>
            <a:off x="744070" y="1524000"/>
            <a:ext cx="8229600" cy="4114800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marL="457200" indent="0">
              <a:spcBef>
                <a:spcPts val="28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Selected Problem: Problem 1 — Counterfeit Seeds, Fertilizers &amp; Pesticides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~25–30% of India's pesticide market is fake or substandard. In 2024–25, of 2.53 lakh samples tested, 32,525 were found substandard — a 13% failure rate.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1-in-8 seed batches sold in rural markets fails quality tests. Farmers discover the fraud only after sowing — when germination fails and the season is already lost.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SATHI (Govt seed authentication system) operates only at the producer/dealer level. There is zero farmer-facing verification tool — the final purchase point is completely unprotected.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A single bad input purchase can wipe out an entire season's investment and push small farmers into debt. Average per-acre loss from fake inputs: Rs 8,000–12,000.</a:t>
            </a:r>
          </a:p>
          <a:p>
            <a:pPr marL="457200" indent="0">
              <a:spcBef>
                <a:spcPts val="28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Why This Problem? Why Now?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Govt has already built SATHI database — the infrastructure exists. AgroVerify only needs a last-meter mobile/IVR interface to make it accessible to 140 million small farmers.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No existing app does this. QR codes are already printed on certified packets but no public tool reads them. The gap is real, documented, and solvable with current technology.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Directly addresses SDG 2 (Zero Hunger) and SDG 9 (Industry, Innovation, Infrastructure) — verified by NITI Aayog SDG India Index 2023-24.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26BB-3E6D-4EE4-BE25-6949ED830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132080" y="45720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Solution (Short  Description)</a:t>
            </a:r>
          </a:p>
        </p:txBody>
      </p:sp>
      <p:sp>
        <p:nvSpPr>
          <p:cNvPr id="149" name="Google Shape;149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99" name="ContentBox"/>
          <p:cNvSpPr>
            <a:spLocks noGrp="1"/>
          </p:cNvSpPr>
          <p:nvPr/>
        </p:nvSpPr>
        <p:spPr>
          <a:xfrm>
            <a:off x="609600" y="1638212"/>
            <a:ext cx="8229600" cy="4114800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marL="457200" indent="0">
              <a:spcBef>
                <a:spcPts val="28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Proposed Solution: AgroVerify — Farmer Input Verification System</a:t>
            </a:r>
          </a:p>
          <a:p>
            <a:pPr marL="457200" indent="0">
              <a:spcBef>
                <a:spcPts val="200"/>
              </a:spcBef>
              <a:buFont typeface="Times New Roman"/>
              <a:buNone/>
            </a:pPr>
            <a:r>
              <a:rPr lang="en-IN" sz="1750" b="1" dirty="0">
                <a:solidFill>
                  <a:srgbClr val="1F497D"/>
                </a:solidFill>
                <a:latin typeface="Times New Roman"/>
              </a:rPr>
              <a:t>Core Concept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A mobile + IVR platform that lets any farmer — smartphone or basic keypad phone — verify seeds, fertilizers, and pesticides BEFORE buying, by scanning/entering the batch number against the government SATHI database in real time.</a:t>
            </a:r>
          </a:p>
          <a:p>
            <a:pPr marL="457200" indent="0">
              <a:spcBef>
                <a:spcPts val="200"/>
              </a:spcBef>
              <a:buFont typeface="Times New Roman"/>
              <a:buNone/>
            </a:pPr>
            <a:r>
              <a:rPr lang="en-IN" sz="1750" b="1" dirty="0">
                <a:solidFill>
                  <a:srgbClr val="1F497D"/>
                </a:solidFill>
                <a:latin typeface="Times New Roman"/>
              </a:rPr>
              <a:t>How It Works — 3 Steps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Step 1 — SCAN: Farmer scans QR code on packet using AgroVerify Android app OR dials a toll-free IVR number on any basic phone and enters the 12-digit batch code.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Step 2 — VERIFY: AgroVerify checks SATHI database in &lt;2 seconds. Returns: product name, manufacturer, certification status, expiry date, and whether batch is flagged as counterfeit.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Step 3 — DECIDE: Farmer gets result in their local language (Gujarati/Hindi/Marathi). Green = safe to buy. Red = do not buy, report to agriculture officer via in-app button.</a:t>
            </a:r>
          </a:p>
          <a:p>
            <a:pPr marL="457200" indent="0">
              <a:spcBef>
                <a:spcPts val="200"/>
              </a:spcBef>
              <a:buFont typeface="Times New Roman"/>
              <a:buNone/>
            </a:pPr>
            <a:r>
              <a:rPr lang="en-IN" sz="1750" b="1" dirty="0">
                <a:solidFill>
                  <a:srgbClr val="1F497D"/>
                </a:solidFill>
                <a:latin typeface="Times New Roman"/>
              </a:rPr>
              <a:t>Key Differentiator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Works OFFLINE — AgroVerify caches the latest SATHI data so verification works even with no internet. Critical for rural areas with poor connectivity.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Works on ANY phone — IVR fallback means even a farmer with a Rs 500 keypad phone can verify inputs. India has 400M+ feature phone users in rural areas.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Dealer Compliance Dashboard — Agriculture officers see real-time map of which dealers have had most counterfeit detections, enabling targeted enforcement.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38C8CB-B0BA-6967-52CE-75E54F9C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>
            <a:extLst>
              <a:ext uri="{FF2B5EF4-FFF2-40B4-BE49-F238E27FC236}">
                <a16:creationId xmlns:a16="http://schemas.microsoft.com/office/drawing/2014/main" id="{C52C65E2-3A8D-56AF-277A-A543E39CA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680" y="1365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</a:p>
        </p:txBody>
      </p:sp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7919EA0D-25A3-55B1-FB25-01D3404A95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Times New Roman"/>
                <a:buNone/>
                <a:tabLst/>
                <a:defRPr/>
              </a:pPr>
              <a:t>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ContentBox"/>
          <p:cNvSpPr>
            <a:spLocks noGrp="1"/>
          </p:cNvSpPr>
          <p:nvPr/>
        </p:nvSpPr>
        <p:spPr>
          <a:xfrm>
            <a:off x="457200" y="1371600"/>
            <a:ext cx="9337040" cy="4429760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marL="457200" indent="0">
              <a:spcBef>
                <a:spcPts val="28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AgroVerify — Deep Dive: Innovation, Architecture &amp; Validation</a:t>
            </a:r>
          </a:p>
          <a:p>
            <a:pPr marL="457200" indent="0">
              <a:spcBef>
                <a:spcPts val="200"/>
              </a:spcBef>
              <a:buFont typeface="Times New Roman"/>
              <a:buNone/>
            </a:pPr>
            <a:r>
              <a:rPr lang="en-IN" sz="1750" b="1" dirty="0">
                <a:solidFill>
                  <a:srgbClr val="1F497D"/>
                </a:solidFill>
                <a:latin typeface="Times New Roman"/>
              </a:rPr>
              <a:t>Technical Architecture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Android App (Kotlin): QR scanner module + batch number entry + multilingual output (Gujarati/Hindi/Marathi/Telugu). Offline cache of SATHI data refreshed every 48 hours via WiFi/4G.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IVR System (Twilio/Exotel): Toll-free number → DTMF batch code entry → TTS result in local language. Handles 1,000 concurrent calls. Zero smartphone needed.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Backend API (Node.js + PostgreSQL): SATHI database mirror updated daily via govt Open Data portal. Fraud-flag crowdsource layer — farmers can report suspected fakes, flagged for officer review.</a:t>
            </a:r>
          </a:p>
          <a:p>
            <a:pPr marL="457200" indent="0">
              <a:spcBef>
                <a:spcPts val="200"/>
              </a:spcBef>
              <a:buFont typeface="Times New Roman"/>
              <a:buNone/>
            </a:pPr>
            <a:r>
              <a:rPr lang="en-IN" sz="1750" b="1" dirty="0">
                <a:solidFill>
                  <a:srgbClr val="1F497D"/>
                </a:solidFill>
                <a:latin typeface="Times New Roman"/>
              </a:rPr>
              <a:t>Business Model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Free to farmers — funded by Agriculture Ministry's Digital Agriculture Mission budget (Rs 2,817 crore allocated 2021-26). No data charges via BSNL/Airtel rural zero-rating tie-up.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Revenue from dealer compliance module — Rs 500/month SaaS subscription for agri-input dealers who want verified-dealer certification badge (trust signal for farmers).</a:t>
            </a:r>
          </a:p>
          <a:p>
            <a:pPr marL="457200" indent="0">
              <a:spcBef>
                <a:spcPts val="200"/>
              </a:spcBef>
              <a:buFont typeface="Times New Roman"/>
              <a:buNone/>
            </a:pPr>
            <a:r>
              <a:rPr lang="en-IN" sz="1750" b="1" dirty="0">
                <a:solidFill>
                  <a:srgbClr val="1F497D"/>
                </a:solidFill>
                <a:latin typeface="Times New Roman"/>
              </a:rPr>
              <a:t>Prototype Validation Plan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Prototype built: Android APK + IVR demo with mock SATHI data. Test with 100 farmers at 5 Common Service Centres in Anand district, Gujarat (June–July 2025).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Success Metrics: 90% task completion rate (farmer verifies input in &lt;60 seconds), &lt;5% false positive rate on SATHI data, NPS score &gt;70 from pilot farmers.</a:t>
            </a:r>
          </a:p>
          <a:p>
            <a:pPr marL="457200" indent="0">
              <a:spcBef>
                <a:spcPts val="200"/>
              </a:spcBef>
              <a:buFont typeface="Times New Roman"/>
              <a:buNone/>
            </a:pPr>
            <a:r>
              <a:rPr lang="en-IN" sz="1750" b="1" dirty="0">
                <a:solidFill>
                  <a:srgbClr val="1F497D"/>
                </a:solidFill>
                <a:latin typeface="Times New Roman"/>
              </a:rPr>
              <a:t>Competitive Landscape</a:t>
            </a:r>
          </a:p>
          <a:p>
            <a:pPr marL="342900" indent="-342900">
              <a:spcBef>
                <a:spcPts val="110"/>
              </a:spcBef>
              <a:buFont typeface="Times New Roman"/>
              <a:buChar char="•"/>
            </a:pPr>
            <a:r>
              <a:rPr lang="en-IN" sz="1650" b="0" dirty="0">
                <a:solidFill>
                  <a:srgbClr val="000000"/>
                </a:solidFill>
                <a:latin typeface="Times New Roman"/>
              </a:rPr>
              <a:t>No direct competitor. AgriApp, Plantix, DeHaat — none offer input batch verification. International: SafeAgri (Kenya) does paper-based scratch codes. AgroVerify is India's first real-time digital solution.</a:t>
            </a:r>
          </a:p>
        </p:txBody>
      </p:sp>
    </p:spTree>
    <p:extLst>
      <p:ext uri="{BB962C8B-B14F-4D97-AF65-F5344CB8AC3E}">
        <p14:creationId xmlns:p14="http://schemas.microsoft.com/office/powerpoint/2010/main" val="422118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A9A59CF8-2D83-DE7D-AA1A-B9DBE4E4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>
            <a:extLst>
              <a:ext uri="{FF2B5EF4-FFF2-40B4-BE49-F238E27FC236}">
                <a16:creationId xmlns:a16="http://schemas.microsoft.com/office/drawing/2014/main" id="{EF67A245-EB77-FE97-C31C-CDE6984ABE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680" y="1365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</a:p>
        </p:txBody>
      </p:sp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EBD9588D-201E-F223-378A-3786D21C18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Times New Roman"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ContentBox"/>
          <p:cNvSpPr>
            <a:spLocks noGrp="1"/>
          </p:cNvSpPr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Implementation Plan — AgroVerify</a:t>
            </a:r>
          </a:p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Phase 1: Data Integration (Month 1-2)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Connect to SATHI government API. Build unified batch registry for seeds, fertilizers, pesticides with QR code generation at manufacturer registration. Add expiry and certification fields</a:t>
            </a:r>
          </a:p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Phase 2: App Development (Month 2-3)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Android app with QR scanner and batch number lookup. SMS/IVR backend for feature phones — farmer dials a number, enters batch code, hears result in local language. Multi-language support: Gujarati, Hindi, Marathi</a:t>
            </a:r>
          </a:p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Phase 3: Deployment in Gujarat (Month 3-4)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Deploy in 5 villages via Common Service Centres. Train CSC operators and Krishi Vigyan Kendra staff to assist farmers. Collect usage data, fix gaps, measure fake-input detection rate</a:t>
            </a:r>
          </a:p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Phase 4: National Scale (Month 5+)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Integrate with PM-KISAN and state agriculture portals. Roll out to all 29 states. Add dealer compliance scoring — dealers with repeated fake detections flagged automatically to enforcement agencies</a:t>
            </a:r>
          </a:p>
        </p:txBody>
      </p:sp>
    </p:spTree>
    <p:extLst>
      <p:ext uri="{BB962C8B-B14F-4D97-AF65-F5344CB8AC3E}">
        <p14:creationId xmlns:p14="http://schemas.microsoft.com/office/powerpoint/2010/main" val="289287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>
            <a:spLocks noGrp="1"/>
          </p:cNvSpPr>
          <p:nvPr>
            <p:ph type="title"/>
          </p:nvPr>
        </p:nvSpPr>
        <p:spPr>
          <a:xfrm>
            <a:off x="132080" y="34217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 to target audience</a:t>
            </a:r>
          </a:p>
        </p:txBody>
      </p:sp>
      <p:sp>
        <p:nvSpPr>
          <p:cNvPr id="156" name="Google Shape;156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Farmers — Primary Beneficiaries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Stops season-destroying crop failures before they happen by verifying inputs at point of purchase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Works on any phone — no smartphone required — ensuring the poorest, most remote farmers are not excluded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Builds farmer confidence and knowledge: teaches verification habit, reduces blind trust in dealers</a:t>
            </a:r>
          </a:p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Government &amp; Agriculture Officers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Real-time data on where fake inputs circulate — enables precise, targeted enforcement action at district level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Extends SATHI system reach to farmer level without building new infrastructure — leverages existing govt data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Reduces compensation burden from crop failures caused by spurious inputs</a:t>
            </a:r>
          </a:p>
          <a:p>
            <a:pPr marL="457200" indent="0">
              <a:spcBef>
                <a:spcPts val="300"/>
              </a:spcBef>
              <a:buFont typeface="Times New Roman"/>
              <a:buNone/>
            </a:pPr>
            <a:r>
              <a:rPr lang="en-IN" sz="1900" b="1" dirty="0">
                <a:solidFill>
                  <a:srgbClr val="8B0000"/>
                </a:solidFill>
                <a:latin typeface="Times New Roman"/>
              </a:rPr>
              <a:t>Broader National Impact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32,525 substandard batches caught/year could save hundreds of thousands of farmer growing seasons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Higher yields from genuine inputs → better food security → direct progress toward SDG 2: Zero Hunger</a:t>
            </a:r>
          </a:p>
          <a:p>
            <a:pPr marL="342900" indent="-342900">
              <a:spcBef>
                <a:spcPts val="12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Raises trust in formal agri-input market; reduces dependence on unverified grey-market sources</a:t>
            </a:r>
          </a:p>
        </p:txBody>
      </p:sp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[1] Ministry of Agriculture &amp; Farmers Welfare — SATHI Seed Authentication System. agricoop.nic.in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[2] Groundreport.in — Crop Insurance Delays: Farmers Left Waiting Amid Climate Challenges. Feb 2025. groundreport.in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[3] Down to Earth — When Crop Insurance Fails Farmers: PMFBY Needs a Rethink. downtoearth.org.in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[4] NABARD — All India Rural Financial Inclusion Survey 2021-22. nabard.org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[5] NITI Aayog — SDG India Index and Dashboard 2023-24. niti.gov.in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[6] United Nations — Sustainable Development Goals Framework. sdgs.un.org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[7] Behanbox — Land, Identity and Access: Structural Barriers Facing Women Farmers. 2026. behanbox.com</a:t>
            </a:r>
          </a:p>
          <a:p>
            <a:pPr marL="342900" indent="-342900">
              <a:spcBef>
                <a:spcPts val="150"/>
              </a:spcBef>
              <a:buFont typeface="Times New Roman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/>
              </a:rPr>
              <a:t>[8] Agri Times — Labor Shortages in Agriculture: Exploring Automation and Skill Development. agritimes.co.in</a:t>
            </a:r>
          </a:p>
        </p:txBody>
      </p:sp>
      <p:sp>
        <p:nvSpPr>
          <p:cNvPr id="176" name="Google Shape;176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D6C8A3D6-B68E-FA28-BFA5-D5612067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>
            <a:extLst>
              <a:ext uri="{FF2B5EF4-FFF2-40B4-BE49-F238E27FC236}">
                <a16:creationId xmlns:a16="http://schemas.microsoft.com/office/drawing/2014/main" id="{18CBC6A5-0AC1-BF60-0963-1658B287F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7760" y="2341881"/>
            <a:ext cx="9235440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sz="6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66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0">
            <a:extLst>
              <a:ext uri="{FF2B5EF4-FFF2-40B4-BE49-F238E27FC236}">
                <a16:creationId xmlns:a16="http://schemas.microsoft.com/office/drawing/2014/main" id="{8AC2B05D-6D2A-23E9-5327-07252D1F01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imes New Roman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Times New Roman"/>
                <a:buNone/>
                <a:tabLst/>
                <a:defRPr/>
              </a:pPr>
              <a:t>12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0979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1730</Words>
  <Application>Microsoft Office PowerPoint</Application>
  <PresentationFormat>Widescreen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Index</vt:lpstr>
      <vt:lpstr>Why Choose this Domain?</vt:lpstr>
      <vt:lpstr>SDG Goal Mapped</vt:lpstr>
      <vt:lpstr>Study of Current System/domain</vt:lpstr>
      <vt:lpstr>Problems/Weakness in Current System</vt:lpstr>
      <vt:lpstr>Possible Solution (Short  Description)</vt:lpstr>
      <vt:lpstr>Proposed Solution</vt:lpstr>
      <vt:lpstr>Implementation</vt:lpstr>
      <vt:lpstr>Impact and Benefits to target audience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Divy Patel</cp:lastModifiedBy>
  <cp:revision>12</cp:revision>
  <dcterms:modified xsi:type="dcterms:W3CDTF">2026-10-22T14:16:26Z</dcterms:modified>
</cp:coreProperties>
</file>